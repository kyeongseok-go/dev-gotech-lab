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6400800" cy="6400800"/>
          </a:xfrm>
          <a:prstGeom prst="ellipse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103120"/>
            <a:ext cx="109728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맑은 고딕"/>
              </a:defRPr>
            </a:pPr>
            <a:r>
              <a:t>gotech.lab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0A5FA"/>
                </a:solidFill>
                <a:latin typeface="맑은 고딕"/>
              </a:defRPr>
            </a:pPr>
            <a:r>
              <a:t>1주 MVP 스프린트 결과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맑은 고딕"/>
              </a:defRPr>
            </a:pPr>
            <a:r>
              <a:t>개인 홈페이지 · 기술 블로그 · 서비스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맑은 고딕"/>
              </a:defRPr>
            </a:pPr>
            <a:r>
              <a:t>2026.03 | Claude Code + Next.js + Cloudflare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프로젝트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맑은 고딕"/>
              </a:defRPr>
            </a:pPr>
            <a:r>
              <a:t>🎯  프로젝트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1000"/>
              </a:spcBef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▸  개인 기술 블로그 + 포트폴리오 사이트 구축</a:t>
            </a:r>
          </a:p>
          <a:p>
            <a:pPr>
              <a:spcBef>
                <a:spcPts val="1000"/>
              </a:spcBef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▸  AI(Claude Code)를 페어 프로그래머로 활용한 1주 스프린트</a:t>
            </a:r>
          </a:p>
          <a:p>
            <a:pPr>
              <a:spcBef>
                <a:spcPts val="1000"/>
              </a:spcBef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▸  Cloudflare 풀스택 (Pages + Workers + D1 + R2)</a:t>
            </a:r>
          </a:p>
          <a:p>
            <a:pPr>
              <a:spcBef>
                <a:spcPts val="1000"/>
              </a:spcBef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▸  채용 담당자 · 기술 리더 · 개발자 커뮤니티 대상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438912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맑은 고딕"/>
              </a:defRPr>
            </a:pPr>
            <a:r>
              <a:t>📊  핵심 수치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맑은 고딕"/>
              </a:defRPr>
            </a:pPr>
            <a:r>
              <a:t>7일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맑은 고딕"/>
              </a:defRPr>
            </a:pPr>
            <a:r>
              <a:t>스프린트 기간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맑은 고딕"/>
              </a:defRPr>
            </a:pPr>
            <a:r>
              <a:t>12개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맑은 고딕"/>
              </a:defRPr>
            </a:pPr>
            <a:r>
              <a:t>페이지 라우트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7490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맑은 고딕"/>
              </a:defRPr>
            </a:pPr>
            <a:r>
              <a:t>8개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7947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맑은 고딕"/>
              </a:defRPr>
            </a:pPr>
            <a:r>
              <a:t>MDX 콘텐츠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맑은 고딕"/>
              </a:defRPr>
            </a:pPr>
            <a:r>
              <a:t>3개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맑은 고딕"/>
              </a:defRPr>
            </a:pPr>
            <a:r>
              <a:t>D1 테이블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5029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맑은 고딕"/>
              </a:defRPr>
            </a:pPr>
            <a:r>
              <a:t>20+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074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맑은 고딕"/>
              </a:defRPr>
            </a:pPr>
            <a:r>
              <a:t>수정 파일/일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기술 스택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11480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828800"/>
            <a:ext cx="54864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맑은 고딕"/>
              </a:defRPr>
            </a:pPr>
            <a:r>
              <a:t>프레임워크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•  Next.js 16 (App Router)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•  TypeScript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•  React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560320" cy="411480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0" y="1828800"/>
            <a:ext cx="54864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맑은 고딕"/>
              </a:defRPr>
            </a:pPr>
            <a:r>
              <a:t>스타일 /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56032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•  Tailwind CSS v4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•  shadcn/ui (radix-nova)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•  CSS Variables (oklch)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560320" cy="411480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828800"/>
            <a:ext cx="54864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72B6"/>
                </a:solidFill>
                <a:latin typeface="맑은 고딕"/>
              </a:defRPr>
            </a:pPr>
            <a:r>
              <a:t>콘텐츠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56032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•  MDX + Velite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•  rehype-pretty-code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•  Shiki (코드 하이라이팅)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645920"/>
            <a:ext cx="2560320" cy="411480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0" y="1828800"/>
            <a:ext cx="54864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맑은 고딕"/>
              </a:defRPr>
            </a:pPr>
            <a:r>
              <a:t>인프라 / 배포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56032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•  Cloudflare Pages + Workers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•  D1 (SQLite) + R2 (Storage)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•  OpenNext Adapter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스프린트 타임라인 — Day 0 ~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82880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Day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초기화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GitHub 저장소 생성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Claude Code + 규칙 파일 설정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Cloudflare 인증 초기화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3440" y="182880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프로젝트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Next.js + Cloudflare + Tailwind + shadcn 초기화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SiteHeader / SiteFooter / PageContainer 생성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6개 페이지 라우트 스텁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pnpm preview 기동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38912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Day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콘텐츠 파이프라인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3464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Velite 설치 + 3개 컬렉션 스키마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MDXContent 렌더링 컴포넌트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블로그/프로젝트/Showcase SSG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홈 최신 콘텐츠 섹션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스프린트 타임라인 — Day 3 ~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82880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블로그 고도화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rehype-pretty-code + Shiki 코드 하이라이팅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Callout (info/warning/tip) 컴포넌트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Table 스타일링 + Image figure 래퍼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읽기 시간 + 이전/다음 글 네비게이션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h2/h3 기반 정적 TOC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카테고리·태그 필터 (searchParams)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Day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페이지 확장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3464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/about: 경력 타임라인, 기술 스택, 관심 분야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SubscribeForm 재사용 컴포넌트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/subscribe 독립 페이지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/showcase/[slug] 상세 (SSG, 뱃지, 링크)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프로젝트 상세 보강 (techStack, repo/demo)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스프린트 타임라인 — Day 5 ~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82880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Day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D1 + R2 + 서비스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D1 스키마: service_registry, news_cache, feature_flags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시드 데이터: 서비스 2개, 뉴스 3개, 플래그 3개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D1 접근 레이어 (services, news, flags)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R2 헬퍼 (경로 빌더 + CRUD)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/services 목록 (D1 기반, 상태 뱃지)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/services/news 뉴스 애그리게이터 MVP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Day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홈 폴리싱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3464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2D 히어로: 도트 패턴 + 카피 + CTA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키워드 태그 float 애니메이션 (CSS)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프로젝트·Showcase 카드에 Link 추가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서비스 섹션 추가 (D1 기반)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구독 CTA (SubscribeForm 포함)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광고 placeholder 컴포넌트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스프린트 타임라인 — Day 7 (마감)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Day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SEO + QA + GitHub 정리 + 배포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맑은 고딕"/>
              </a:defRPr>
            </a:pPr>
            <a:r>
              <a:t>SEO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전역 metadataBase + title.template + OG/Twitter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맑은 고딕"/>
              </a:defRPr>
            </a:pPr>
            <a:r>
              <a:t>페이지별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정적 8개 + generateMetadata 3개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맑은 고딕"/>
              </a:defRPr>
            </a:pPr>
            <a:r>
              <a:t>sitemap.ts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정적 6경로 + 동적 상세 (Velite 기반)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맑은 고딕"/>
              </a:defRPr>
            </a:pPr>
            <a:r>
              <a:t>robots.ts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709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전체 허용, /api/ 차단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맑은 고딕"/>
              </a:defRPr>
            </a:pPr>
            <a:r>
              <a:t>RSS 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/rss.xml Route Handler (blog 기반)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맑은 고딕"/>
              </a:defRPr>
            </a:pPr>
            <a:r>
              <a:t>README.md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기술 스택, 실행 방법, 폴더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맑은 고딕"/>
              </a:defRPr>
            </a:pPr>
            <a:r>
              <a:t>.env.example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SITE_URL + Supabase placeholder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맑은 고딕"/>
              </a:defRPr>
            </a:pPr>
            <a:r>
              <a:t>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709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모바일 nav 수정 + ESLint ignore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사이트 구조 — 12개 라우트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2011680" cy="365760"/>
          </a:xfrm>
          <a:prstGeom prst="roundRect">
            <a:avLst>
              <a:gd name="adj" fmla="val 1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경로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600200"/>
            <a:ext cx="1371600" cy="365760"/>
          </a:xfrm>
          <a:prstGeom prst="roundRect">
            <a:avLst>
              <a:gd name="adj" fmla="val 1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1600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페이지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600200"/>
            <a:ext cx="1097280" cy="365760"/>
          </a:xfrm>
          <a:prstGeom prst="roundRect">
            <a:avLst>
              <a:gd name="adj" fmla="val 1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600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렌더링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600200"/>
            <a:ext cx="5029200" cy="365760"/>
          </a:xfrm>
          <a:prstGeom prst="roundRect">
            <a:avLst>
              <a:gd name="adj" fmla="val 1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주요 기능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84248"/>
            <a:ext cx="201168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84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맑은 고딕"/>
              </a:defRPr>
            </a:pPr>
            <a:r>
              <a:t>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984248"/>
            <a:ext cx="137160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9842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1984248"/>
            <a:ext cx="109728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9842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Static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1984248"/>
            <a:ext cx="502920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19842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히어로 + 블로그/프로젝트/Showcase/서비스/구독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368296"/>
            <a:ext cx="201168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3682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맑은 고딕"/>
              </a:defRPr>
            </a:pPr>
            <a:r>
              <a:t>/blog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2368296"/>
            <a:ext cx="137160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236829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블로그 목록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2368296"/>
            <a:ext cx="109728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236829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Dynamic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2080" y="2368296"/>
            <a:ext cx="502920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236829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카테고리·태그 필터, searchParams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2752344"/>
            <a:ext cx="201168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27523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맑은 고딕"/>
              </a:defRPr>
            </a:pPr>
            <a:r>
              <a:t>/blog/[slug]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2752344"/>
            <a:ext cx="137160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275234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블로그 상세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0" y="2752344"/>
            <a:ext cx="109728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27523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SSG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2752344"/>
            <a:ext cx="502920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0" y="275234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MDX 본문, TOC, 코드 하이라이팅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3136391"/>
            <a:ext cx="201168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13639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맑은 고딕"/>
              </a:defRPr>
            </a:pPr>
            <a:r>
              <a:t>/projects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0" y="3136391"/>
            <a:ext cx="137160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313639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프로젝트 목록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0" y="3136391"/>
            <a:ext cx="109728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313639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Static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3136391"/>
            <a:ext cx="502920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0" y="3136391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카드 목록 + 상세 링크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3520439"/>
            <a:ext cx="201168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35204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맑은 고딕"/>
              </a:defRPr>
            </a:pPr>
            <a:r>
              <a:t>/projects/[slug]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0" y="3520439"/>
            <a:ext cx="137160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34640" y="35204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프로젝트 상세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0" y="3520439"/>
            <a:ext cx="109728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35204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SSG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12080" y="3520439"/>
            <a:ext cx="502920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0" y="35204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techStack, repo/demo 링크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3904487"/>
            <a:ext cx="201168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390448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맑은 고딕"/>
              </a:defRPr>
            </a:pPr>
            <a:r>
              <a:t>/showcase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0" y="3904487"/>
            <a:ext cx="137160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34640" y="3904487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Showcase 목록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14800" y="3904487"/>
            <a:ext cx="109728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0" y="3904487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Static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212080" y="3904487"/>
            <a:ext cx="502920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0" y="3904487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상태 뱃지 + 카드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4288536"/>
            <a:ext cx="201168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42885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맑은 고딕"/>
              </a:defRPr>
            </a:pPr>
            <a:r>
              <a:t>/showcase/[slug]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743200" y="4288536"/>
            <a:ext cx="137160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34640" y="428853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Showcase 상세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14800" y="4288536"/>
            <a:ext cx="109728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06240" y="428853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SSG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212080" y="4288536"/>
            <a:ext cx="502920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03520" y="428853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스택, 외부 링크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4672583"/>
            <a:ext cx="201168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60" y="4672583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맑은 고딕"/>
              </a:defRPr>
            </a:pPr>
            <a:r>
              <a:t>/services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43200" y="4672583"/>
            <a:ext cx="137160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34640" y="4672583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서비스 목록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114800" y="4672583"/>
            <a:ext cx="109728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06240" y="4672583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Static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212080" y="4672583"/>
            <a:ext cx="502920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03520" y="4672583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D1 기반, 상태 뱃지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" y="5056631"/>
            <a:ext cx="201168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2960" y="505663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맑은 고딕"/>
              </a:defRPr>
            </a:pPr>
            <a:r>
              <a:t>/services/news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743200" y="5056631"/>
            <a:ext cx="137160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834640" y="505663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뉴스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114800" y="5056631"/>
            <a:ext cx="109728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06240" y="505663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Dynamic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212080" y="5056631"/>
            <a:ext cx="502920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03520" y="5056631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D1 news_cache, 카테고리 필터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31520" y="5440679"/>
            <a:ext cx="201168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2960" y="5440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맑은 고딕"/>
              </a:defRPr>
            </a:pPr>
            <a:r>
              <a:t>/about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743200" y="5440679"/>
            <a:ext cx="137160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834640" y="544067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소개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114800" y="5440679"/>
            <a:ext cx="109728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06240" y="54406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Static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212080" y="5440679"/>
            <a:ext cx="5029200" cy="365760"/>
          </a:xfrm>
          <a:prstGeom prst="roundRect">
            <a:avLst>
              <a:gd name="adj" fmla="val 500"/>
            </a:avLst>
          </a:prstGeom>
          <a:solidFill>
            <a:srgbClr val="1F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0" y="54406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경력 타임라인, 기술 스택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31520" y="5824728"/>
            <a:ext cx="201168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2960" y="5824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맑은 고딕"/>
              </a:defRPr>
            </a:pPr>
            <a:r>
              <a:t>/subscribe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743200" y="5824728"/>
            <a:ext cx="137160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834640" y="58247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구독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114800" y="5824728"/>
            <a:ext cx="109728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06240" y="5824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Static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212080" y="5824728"/>
            <a:ext cx="5029200" cy="365760"/>
          </a:xfrm>
          <a:prstGeom prst="roundRect">
            <a:avLst>
              <a:gd name="adj" fmla="val 5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303520" y="58247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SubscribeForm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데이터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11480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828800"/>
            <a:ext cx="54864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맑은 고딕"/>
              </a:defRPr>
            </a:pPr>
            <a:r>
              <a:t>Velite (MDX)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빌드 타임 컴파일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•  blog → 3개 글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•  projects → 2개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•  showcase → 3개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•  draft 자동 필터링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645920"/>
            <a:ext cx="2560320" cy="411480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1828800"/>
            <a:ext cx="54864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맑은 고딕"/>
              </a:defRPr>
            </a:pPr>
            <a:r>
              <a:t>Cloudflare D1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런타임 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83464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•  service_registry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•  news_cache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•  feature_flags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•  try/catch fallback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2560320" cy="411480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1828800"/>
            <a:ext cx="54864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맑은 고딕"/>
              </a:defRPr>
            </a:pPr>
            <a:r>
              <a:t>Cloudflare R2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오브젝트 스토리지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83464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•  blog/{slug}/cover.ext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•  projects/{slug}/thumb.ext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•  og/{type}/{slug}.png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•  헬퍼 구현 완료 (Phase 2 사용)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645920"/>
            <a:ext cx="2560320" cy="411480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1828800"/>
            <a:ext cx="548640" cy="508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맑은 고딕"/>
              </a:defRPr>
            </a:pPr>
            <a:r>
              <a:t>Supabase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Phase 2 예정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83464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•  인증 (Auth)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•  댓글 (Comments)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•  구독 (Subscriptions)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•  멤버십 (Memberships)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AI 페어 프로그래밍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Claude Code를 활용한 체계적 개발 프로세스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103120"/>
            <a:ext cx="640080" cy="6400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28800" y="2286000"/>
            <a:ext cx="640080" cy="27432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문서 읽기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83280"/>
            <a:ext cx="1645920" cy="20116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CLAUDE.md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plan.md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techspec.md</a:t>
            </a:r>
          </a:p>
        </p:txBody>
      </p:sp>
      <p:sp>
        <p:nvSpPr>
          <p:cNvPr id="10" name="Oval 9"/>
          <p:cNvSpPr/>
          <p:nvPr/>
        </p:nvSpPr>
        <p:spPr>
          <a:xfrm>
            <a:off x="3291840" y="210312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14800" y="2286000"/>
            <a:ext cx="640080" cy="27432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계획 수립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3383280"/>
            <a:ext cx="1645920" cy="20116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356616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작업 범위 정의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수정 파일 목록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구현 전략</a:t>
            </a:r>
          </a:p>
        </p:txBody>
      </p:sp>
      <p:sp>
        <p:nvSpPr>
          <p:cNvPr id="15" name="Oval 14"/>
          <p:cNvSpPr/>
          <p:nvPr/>
        </p:nvSpPr>
        <p:spPr>
          <a:xfrm>
            <a:off x="5577840" y="2103120"/>
            <a:ext cx="640080" cy="64008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400800" y="2286000"/>
            <a:ext cx="640080" cy="27432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구현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3383280"/>
            <a:ext cx="1645920" cy="20116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56616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코드 생성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린트 검증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빌드 확인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2103120"/>
            <a:ext cx="640080" cy="6400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686800" y="2286000"/>
            <a:ext cx="640080" cy="27432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검증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3383280"/>
            <a:ext cx="1645920" cy="20116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356616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pnpm lint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pnpm build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수동 체크리스트</a:t>
            </a:r>
          </a:p>
        </p:txBody>
      </p:sp>
      <p:sp>
        <p:nvSpPr>
          <p:cNvPr id="25" name="Oval 24"/>
          <p:cNvSpPr/>
          <p:nvPr/>
        </p:nvSpPr>
        <p:spPr>
          <a:xfrm>
            <a:off x="10149840" y="2103120"/>
            <a:ext cx="640080" cy="6400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커밋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3383280"/>
            <a:ext cx="1645920" cy="20116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356616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상세 커밋 메시지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GitHub push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plan.md 갱신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향후 계획 — Phase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3840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828800"/>
            <a:ext cx="54864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맑은 고딕"/>
              </a:defRPr>
            </a:pPr>
            <a:r>
              <a:t>인증 · 사용자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Supabase Auth 연동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댓글 시스템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구독 백엔드 (MailerLite/Buttondown)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멤버십 기능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560320" cy="3840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0" y="1828800"/>
            <a:ext cx="54864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맑은 고딕"/>
              </a:defRPr>
            </a:pPr>
            <a:r>
              <a:t>콘텐츠 확장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56032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뉴스 외부 수집 자동화 (크롤러/RSS)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OG 이미지 동적 생성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R2 이미지 업로드 파이프라인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블로그 시리즈 기능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560320" cy="3840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828800"/>
            <a:ext cx="54864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맑은 고딕"/>
              </a:defRPr>
            </a:pPr>
            <a:r>
              <a:t>UX 개선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56032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다크모드 토글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3D 히어로 (성능 검증 후)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모바일 햄버거 메뉴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페이지 전환 애니메이션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645920"/>
            <a:ext cx="2560320" cy="3840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0" y="1828800"/>
            <a:ext cx="54864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맑은 고딕"/>
              </a:defRPr>
            </a:pPr>
            <a:r>
              <a:t>운영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56032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Cloudflare 프로덕션 배포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커스텀 도메인 연결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Lighthouse 성능 최적화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▸  GitHub Actions CI/CD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-914400"/>
            <a:ext cx="5486400" cy="54864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109728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만들고, 기록하고, 공유합니다.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0A5FA"/>
                </a:solidFill>
                <a:latin typeface="맑은 고딕"/>
              </a:defRPr>
            </a:pPr>
            <a:r>
              <a:t>gotech.lab — 1주 MVP 스프린트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github.com/kyeongseok-go/dev-gotech-lab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502920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Day 0~7 완료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502920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12개 라우트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502920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8개 MDX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502920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D1 + R2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502920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SEO + RSS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